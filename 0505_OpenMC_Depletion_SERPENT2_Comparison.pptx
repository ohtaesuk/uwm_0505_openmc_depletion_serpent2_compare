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837" r:id="rId4"/>
    <p:sldId id="838" r:id="rId5"/>
    <p:sldId id="839" r:id="rId6"/>
    <p:sldId id="835" r:id="rId7"/>
    <p:sldId id="836" r:id="rId8"/>
    <p:sldId id="840" r:id="rId9"/>
    <p:sldId id="843" r:id="rId10"/>
    <p:sldId id="844" r:id="rId11"/>
    <p:sldId id="845" r:id="rId12"/>
    <p:sldId id="834" r:id="rId13"/>
    <p:sldId id="841" r:id="rId14"/>
    <p:sldId id="842" r:id="rId15"/>
  </p:sldIdLst>
  <p:sldSz cx="9144000" cy="6858000" type="screen4x3"/>
  <p:notesSz cx="9855200" cy="67183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98" autoAdjust="0"/>
    <p:restoredTop sz="96391" autoAdjust="0"/>
  </p:normalViewPr>
  <p:slideViewPr>
    <p:cSldViewPr>
      <p:cViewPr>
        <p:scale>
          <a:sx n="100" d="100"/>
          <a:sy n="100" d="100"/>
        </p:scale>
        <p:origin x="2106" y="672"/>
      </p:cViewPr>
      <p:guideLst>
        <p:guide orient="horz" pos="2160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4270896" cy="335482"/>
          </a:xfrm>
          <a:prstGeom prst="rect">
            <a:avLst/>
          </a:prstGeom>
        </p:spPr>
        <p:txBody>
          <a:bodyPr vert="horz" lIns="91423" tIns="45711" rIns="91423" bIns="4571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581978" y="0"/>
            <a:ext cx="4270896" cy="335482"/>
          </a:xfrm>
          <a:prstGeom prst="rect">
            <a:avLst/>
          </a:prstGeom>
        </p:spPr>
        <p:txBody>
          <a:bodyPr vert="horz" lIns="91423" tIns="45711" rIns="91423" bIns="45711" rtlCol="0"/>
          <a:lstStyle>
            <a:lvl1pPr algn="r">
              <a:defRPr sz="1200"/>
            </a:lvl1pPr>
          </a:lstStyle>
          <a:p>
            <a:fld id="{27258BA9-DBB3-4D84-9191-530C08055F7E}" type="datetimeFigureOut">
              <a:rPr lang="ko-KR" altLang="en-US" smtClean="0"/>
              <a:pPr/>
              <a:t>2026-04-05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3" y="6381737"/>
            <a:ext cx="4270896" cy="335482"/>
          </a:xfrm>
          <a:prstGeom prst="rect">
            <a:avLst/>
          </a:prstGeom>
        </p:spPr>
        <p:txBody>
          <a:bodyPr vert="horz" lIns="91423" tIns="45711" rIns="91423" bIns="4571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581978" y="6381737"/>
            <a:ext cx="4270896" cy="335482"/>
          </a:xfrm>
          <a:prstGeom prst="rect">
            <a:avLst/>
          </a:prstGeom>
        </p:spPr>
        <p:txBody>
          <a:bodyPr vert="horz" lIns="91423" tIns="45711" rIns="91423" bIns="45711" rtlCol="0" anchor="b"/>
          <a:lstStyle>
            <a:lvl1pPr algn="r">
              <a:defRPr sz="1200"/>
            </a:lvl1pPr>
          </a:lstStyle>
          <a:p>
            <a:fld id="{6FBBE626-B9E8-4350-B5B1-D28E8376908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15303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271164" cy="335758"/>
          </a:xfrm>
          <a:prstGeom prst="rect">
            <a:avLst/>
          </a:prstGeom>
        </p:spPr>
        <p:txBody>
          <a:bodyPr vert="horz" lIns="90608" tIns="45304" rIns="90608" bIns="45304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82460" y="1"/>
            <a:ext cx="4271164" cy="335758"/>
          </a:xfrm>
          <a:prstGeom prst="rect">
            <a:avLst/>
          </a:prstGeom>
        </p:spPr>
        <p:txBody>
          <a:bodyPr vert="horz" lIns="90608" tIns="45304" rIns="90608" bIns="45304" rtlCol="0"/>
          <a:lstStyle>
            <a:lvl1pPr algn="r">
              <a:defRPr sz="1200"/>
            </a:lvl1pPr>
          </a:lstStyle>
          <a:p>
            <a:fld id="{AE5F3A91-6DFA-4AFD-9BD4-D380FF353972}" type="datetimeFigureOut">
              <a:rPr lang="ko-KR" altLang="en-US" smtClean="0"/>
              <a:pPr/>
              <a:t>2026-04-05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248025" y="503238"/>
            <a:ext cx="3359150" cy="25193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608" tIns="45304" rIns="90608" bIns="45304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5048" y="3191272"/>
            <a:ext cx="7885105" cy="3023392"/>
          </a:xfrm>
          <a:prstGeom prst="rect">
            <a:avLst/>
          </a:prstGeom>
        </p:spPr>
        <p:txBody>
          <a:bodyPr vert="horz" lIns="90608" tIns="45304" rIns="90608" bIns="45304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6380974"/>
            <a:ext cx="4271164" cy="335758"/>
          </a:xfrm>
          <a:prstGeom prst="rect">
            <a:avLst/>
          </a:prstGeom>
        </p:spPr>
        <p:txBody>
          <a:bodyPr vert="horz" lIns="90608" tIns="45304" rIns="90608" bIns="45304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82460" y="6380974"/>
            <a:ext cx="4271164" cy="335758"/>
          </a:xfrm>
          <a:prstGeom prst="rect">
            <a:avLst/>
          </a:prstGeom>
        </p:spPr>
        <p:txBody>
          <a:bodyPr vert="horz" lIns="90608" tIns="45304" rIns="90608" bIns="45304" rtlCol="0" anchor="b"/>
          <a:lstStyle>
            <a:lvl1pPr algn="r">
              <a:defRPr sz="1200"/>
            </a:lvl1pPr>
          </a:lstStyle>
          <a:p>
            <a:fld id="{9B2C5185-B6F1-43AC-B74F-79C86D7624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25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C5185-B6F1-43AC-B74F-79C86D762445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3033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60648"/>
            <a:ext cx="9144000" cy="2304256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2800" b="1">
                <a:latin typeface="Book Antiqua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933056"/>
            <a:ext cx="6400800" cy="2448272"/>
          </a:xfrm>
        </p:spPr>
        <p:txBody>
          <a:bodyPr>
            <a:normAutofit/>
          </a:bodyPr>
          <a:lstStyle>
            <a:lvl1pPr marL="0" indent="0" algn="ctr">
              <a:buNone/>
              <a:defRPr sz="2200" b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pic>
        <p:nvPicPr>
          <p:cNvPr id="4" name="Picture 2" descr="uw-madison-logo-flush-web">
            <a:extLst>
              <a:ext uri="{FF2B5EF4-FFF2-40B4-BE49-F238E27FC236}">
                <a16:creationId xmlns:a16="http://schemas.microsoft.com/office/drawing/2014/main" id="{97466EF4-B812-236C-C50D-802EDBFCE7B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2780928"/>
            <a:ext cx="2880320" cy="965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6432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4868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algn="ctr">
              <a:defRPr sz="2800" b="1">
                <a:latin typeface="Book Antiqua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6" y="620688"/>
            <a:ext cx="8928992" cy="5879598"/>
          </a:xfrm>
        </p:spPr>
        <p:txBody>
          <a:bodyPr/>
          <a:lstStyle>
            <a:lvl1pPr marL="0" indent="0">
              <a:lnSpc>
                <a:spcPct val="130000"/>
              </a:lnSpc>
              <a:spcBef>
                <a:spcPts val="0"/>
              </a:spcBef>
              <a:buFont typeface="Euclid" pitchFamily="18" charset="0"/>
              <a:buChar char=" "/>
              <a:defRPr sz="1600" b="1">
                <a:solidFill>
                  <a:schemeClr val="tx1"/>
                </a:solidFill>
                <a:latin typeface="Book Antiqua" pitchFamily="18" charset="0"/>
              </a:defRPr>
            </a:lvl1pPr>
            <a:lvl2pPr marL="360000">
              <a:lnSpc>
                <a:spcPct val="130000"/>
              </a:lnSpc>
              <a:spcBef>
                <a:spcPts val="0"/>
              </a:spcBef>
              <a:defRPr sz="1600" b="0">
                <a:latin typeface="Book Antiqua" pitchFamily="18" charset="0"/>
              </a:defRPr>
            </a:lvl2pPr>
            <a:lvl3pPr marL="540000" indent="-228600">
              <a:lnSpc>
                <a:spcPct val="130000"/>
              </a:lnSpc>
              <a:spcBef>
                <a:spcPts val="0"/>
              </a:spcBef>
              <a:buFont typeface="Arial" pitchFamily="34" charset="0"/>
              <a:buChar char="•"/>
              <a:defRPr sz="1600" b="0">
                <a:latin typeface="Book Antiqua" pitchFamily="18" charset="0"/>
              </a:defRPr>
            </a:lvl3pPr>
            <a:lvl4pPr marL="720000">
              <a:lnSpc>
                <a:spcPct val="130000"/>
              </a:lnSpc>
              <a:spcBef>
                <a:spcPts val="0"/>
              </a:spcBef>
              <a:defRPr sz="1600" b="0">
                <a:latin typeface="Book Antiqua" pitchFamily="18" charset="0"/>
              </a:defRPr>
            </a:lvl4pPr>
            <a:lvl5pPr marL="900000">
              <a:lnSpc>
                <a:spcPct val="130000"/>
              </a:lnSpc>
              <a:spcBef>
                <a:spcPts val="0"/>
              </a:spcBef>
              <a:defRPr sz="1600" b="0">
                <a:latin typeface="Book Antiqua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9233" y="6560636"/>
            <a:ext cx="878521" cy="283208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51982901-BCC8-449F-9553-B07C9B542B1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직선 연결선 7"/>
          <p:cNvCxnSpPr/>
          <p:nvPr/>
        </p:nvCxnSpPr>
        <p:spPr>
          <a:xfrm>
            <a:off x="0" y="6532359"/>
            <a:ext cx="9144000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809AF99D-5208-C60B-D6A2-8DF1DA02EF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06" y="6560636"/>
            <a:ext cx="3185780" cy="29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35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4868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algn="ctr">
              <a:defRPr sz="2800" b="1">
                <a:latin typeface="Book Antiqua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9233" y="6560636"/>
            <a:ext cx="878521" cy="283208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itchFamily="18" charset="0"/>
              </a:defRPr>
            </a:lvl1pPr>
          </a:lstStyle>
          <a:p>
            <a:fld id="{51982901-BCC8-449F-9553-B07C9B542B1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07506" y="620688"/>
            <a:ext cx="8928992" cy="5879598"/>
          </a:xfrm>
        </p:spPr>
        <p:txBody>
          <a:bodyPr/>
          <a:lstStyle>
            <a:lvl1pPr marL="0" indent="0">
              <a:lnSpc>
                <a:spcPct val="130000"/>
              </a:lnSpc>
              <a:buFont typeface="Euclid" pitchFamily="18" charset="0"/>
              <a:buChar char=" "/>
              <a:defRPr sz="2000" b="1">
                <a:solidFill>
                  <a:srgbClr val="0070C0"/>
                </a:solidFill>
                <a:latin typeface="Book Antiqua" pitchFamily="18" charset="0"/>
              </a:defRPr>
            </a:lvl1pPr>
            <a:lvl2pPr marL="360000">
              <a:lnSpc>
                <a:spcPct val="130000"/>
              </a:lnSpc>
              <a:defRPr sz="1800" b="0">
                <a:latin typeface="Book Antiqua" pitchFamily="18" charset="0"/>
              </a:defRPr>
            </a:lvl2pPr>
            <a:lvl3pPr marL="540000" indent="-228600">
              <a:lnSpc>
                <a:spcPct val="130000"/>
              </a:lnSpc>
              <a:buFont typeface="Arial" pitchFamily="34" charset="0"/>
              <a:buChar char="•"/>
              <a:defRPr sz="1800" b="0">
                <a:latin typeface="Book Antiqua" pitchFamily="18" charset="0"/>
              </a:defRPr>
            </a:lvl3pPr>
            <a:lvl4pPr marL="720000">
              <a:lnSpc>
                <a:spcPct val="130000"/>
              </a:lnSpc>
              <a:defRPr sz="1800" b="0">
                <a:latin typeface="Book Antiqua" pitchFamily="18" charset="0"/>
              </a:defRPr>
            </a:lvl4pPr>
            <a:lvl5pPr marL="900000">
              <a:lnSpc>
                <a:spcPct val="130000"/>
              </a:lnSpc>
              <a:defRPr sz="1800" b="0">
                <a:latin typeface="Book Antiqua" pitchFamily="18" charset="0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635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63688" y="6542307"/>
            <a:ext cx="5832648" cy="31569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4FBA6B-78D0-4578-9319-9A333DB643B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12860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7506" y="0"/>
            <a:ext cx="8928992" cy="836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506" y="980728"/>
            <a:ext cx="8928992" cy="54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17192" y="6570500"/>
            <a:ext cx="1368152" cy="288032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9231" y="6549622"/>
            <a:ext cx="1053480" cy="316800"/>
          </a:xfrm>
          <a:prstGeom prst="rect">
            <a:avLst/>
          </a:prstGeom>
        </p:spPr>
        <p:txBody>
          <a:bodyPr/>
          <a:lstStyle>
            <a:lvl1pPr algn="r">
              <a:defRPr b="1">
                <a:latin typeface="+mn-lt"/>
              </a:defRPr>
            </a:lvl1pPr>
          </a:lstStyle>
          <a:p>
            <a:fld id="{51982901-BCC8-449F-9553-B07C9B542B1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328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7" r:id="rId3"/>
    <p:sldLayoutId id="2147483738" r:id="rId4"/>
  </p:sldLayoutIdLst>
  <p:hf hdr="0" dt="0"/>
  <p:txStyles>
    <p:titleStyle>
      <a:lvl1pPr algn="ctr" defTabSz="914400" rtl="0" eaLnBrk="1" latinLnBrk="1" hangingPunct="1">
        <a:spcBef>
          <a:spcPct val="0"/>
        </a:spcBef>
        <a:buNone/>
        <a:defRPr sz="24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OpenMC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v0.15.3 Depletion – Comparison with Serpent2.2.1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Reactor Technology Integration Group (</a:t>
            </a:r>
            <a:r>
              <a:rPr lang="en-US" altLang="ko-KR" sz="19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ReTI</a:t>
            </a:r>
            <a:r>
              <a:rPr lang="en-US" altLang="ko-KR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ko-KR" sz="1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sz="1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Taesuk Oh</a:t>
            </a:r>
          </a:p>
          <a:p>
            <a:endParaRPr lang="en-US" altLang="ko-KR" sz="1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Nuclear Engineering &amp; Engineering Physics (NEEP)</a:t>
            </a:r>
          </a:p>
          <a:p>
            <a:r>
              <a:rPr lang="en-US" altLang="ko-KR" sz="19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Wisconsin-Madison</a:t>
            </a: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608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4B7E5E-47FF-4F4B-82F7-548C573F7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Motivation &amp; Objectives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E8FA80-7B3A-47A0-92C6-5711A666D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Employ </a:t>
            </a:r>
            <a:r>
              <a:rPr lang="en-US" altLang="ko-KR" dirty="0" err="1"/>
              <a:t>OpenMC</a:t>
            </a:r>
            <a:r>
              <a:rPr lang="en-US" altLang="ko-KR" dirty="0"/>
              <a:t> as the main transport code for ARPA-E NEWTON project</a:t>
            </a:r>
          </a:p>
          <a:p>
            <a:pPr lvl="1"/>
            <a:r>
              <a:rPr lang="en-US" altLang="ko-KR" dirty="0"/>
              <a:t>Should model removal of fission products during depletion</a:t>
            </a:r>
          </a:p>
          <a:p>
            <a:pPr lvl="1"/>
            <a:r>
              <a:rPr lang="en-US" altLang="ko-KR" dirty="0"/>
              <a:t>Relatively new feature included in </a:t>
            </a:r>
            <a:r>
              <a:rPr lang="en-US" altLang="ko-KR" dirty="0" err="1"/>
              <a:t>OpenMC</a:t>
            </a:r>
            <a:r>
              <a:rPr lang="en-US" altLang="ko-KR" dirty="0"/>
              <a:t> → Want to verify the module w.r.t Serpent2.2.1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Perform apple-to-apple comparison for depletion analysis:</a:t>
            </a:r>
          </a:p>
          <a:p>
            <a:pPr lvl="1"/>
            <a:r>
              <a:rPr lang="en-US" altLang="ko-KR" dirty="0"/>
              <a:t>Consistent XS-library, requires consistent normalization whilst tallying reaction rate</a:t>
            </a:r>
          </a:p>
          <a:p>
            <a:pPr lvl="2"/>
            <a:r>
              <a:rPr lang="en-US" altLang="ko-KR" dirty="0"/>
              <a:t>Also, consistent decay library (pathway for FPs) for solving Bateman Equation</a:t>
            </a:r>
          </a:p>
          <a:p>
            <a:pPr lvl="1"/>
            <a:r>
              <a:rPr lang="en-US" altLang="ko-KR" dirty="0"/>
              <a:t>Important to do ‘our best’ for the ARPA-E NEWTON project</a:t>
            </a:r>
          </a:p>
          <a:p>
            <a:pPr lvl="2"/>
            <a:r>
              <a:rPr lang="en-US" altLang="ko-KR" dirty="0"/>
              <a:t>Whether the obtained numbers are reasonable / Are they out best guess?</a:t>
            </a:r>
          </a:p>
          <a:p>
            <a:pPr lvl="2"/>
            <a:endParaRPr lang="en-US" altLang="ko-KR" dirty="0"/>
          </a:p>
          <a:p>
            <a:r>
              <a:rPr lang="en-US" altLang="ko-KR" dirty="0"/>
              <a:t>Depending on the normalization method, the absolute reaction rate differs!</a:t>
            </a:r>
          </a:p>
          <a:p>
            <a:pPr lvl="1"/>
            <a:r>
              <a:rPr lang="en-US" altLang="ko-KR" dirty="0" err="1"/>
              <a:t>OpenMC</a:t>
            </a:r>
            <a:r>
              <a:rPr lang="en-US" altLang="ko-KR" dirty="0"/>
              <a:t>: ‘fission-q’ where Q-value for fission is enumerated in chain files</a:t>
            </a:r>
          </a:p>
          <a:p>
            <a:pPr lvl="1"/>
            <a:r>
              <a:rPr lang="en-US" altLang="ko-KR" dirty="0"/>
              <a:t>Serpent: Default Q-value for U235 fission / Scale other fissile element’s Q-value accordingly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(1) Demonstrate the conventional depletion (no gas removal) matches well</a:t>
            </a:r>
          </a:p>
          <a:p>
            <a:r>
              <a:rPr lang="en-US" altLang="ko-KR" dirty="0"/>
              <a:t>(2) Demonstrate that both codes provide consistent </a:t>
            </a:r>
            <a:r>
              <a:rPr lang="en-US" altLang="ko-KR" dirty="0" err="1"/>
              <a:t>keff</a:t>
            </a:r>
            <a:r>
              <a:rPr lang="en-US" altLang="ko-KR" dirty="0"/>
              <a:t> value when FP removal modelled</a:t>
            </a:r>
          </a:p>
          <a:p>
            <a:r>
              <a:rPr lang="en-US" altLang="ko-KR" dirty="0"/>
              <a:t>(3) Demonstrate that modification in the </a:t>
            </a:r>
            <a:r>
              <a:rPr lang="en-US" altLang="ko-KR" dirty="0" err="1"/>
              <a:t>OpenMC</a:t>
            </a:r>
            <a:r>
              <a:rPr lang="en-US" altLang="ko-KR" dirty="0"/>
              <a:t> chain file (for Li-6,7 tritium) is reliable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F26A69-3200-4DA9-88A7-51E8E52D9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37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DB2775-B768-547D-00CC-2AAD24611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Serpent2.2.1 Normalization during Depletion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884732-3FEA-DFEC-7F55-021654F1D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594319E9-2DB2-1DAC-248B-511AC30FAF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504" y="705635"/>
            <a:ext cx="5688632" cy="2643921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31C73D11-4FEC-CFB8-F5BF-BD30DE42A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25" y="3327017"/>
            <a:ext cx="5246671" cy="3184234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48146DEE-B284-0D04-E86E-F407F9E1E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1873" y="3212300"/>
            <a:ext cx="4814623" cy="3413667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B55049C9-D7FB-CFC2-6DC1-0766204BC341}"/>
              </a:ext>
            </a:extLst>
          </p:cNvPr>
          <p:cNvSpPr/>
          <p:nvPr/>
        </p:nvSpPr>
        <p:spPr>
          <a:xfrm>
            <a:off x="1338364" y="1354216"/>
            <a:ext cx="4104456" cy="144016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C15CAA3-62D7-FEC5-11A8-4F0837F6DEF9}"/>
              </a:ext>
            </a:extLst>
          </p:cNvPr>
          <p:cNvSpPr/>
          <p:nvPr/>
        </p:nvSpPr>
        <p:spPr>
          <a:xfrm>
            <a:off x="1310563" y="2017329"/>
            <a:ext cx="1167108" cy="166524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EA3C1E3-04B1-D274-40F7-6F655EB1E754}"/>
              </a:ext>
            </a:extLst>
          </p:cNvPr>
          <p:cNvSpPr/>
          <p:nvPr/>
        </p:nvSpPr>
        <p:spPr>
          <a:xfrm>
            <a:off x="143455" y="2183853"/>
            <a:ext cx="900153" cy="166524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995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37D30F-271A-9243-DAC6-8ACDD5C7B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OpenMC</a:t>
            </a:r>
            <a:r>
              <a:rPr lang="en-US" dirty="0"/>
              <a:t> Normalization during Depletion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2E0D77-4039-F899-3FCD-ED0C853445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ED48CE04-8A80-C711-5D5A-6F930AB20A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4549" y="611185"/>
            <a:ext cx="5594902" cy="588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781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AC53C0-0F4A-8DCE-A51D-E6588941E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OpenMC</a:t>
            </a:r>
            <a:r>
              <a:rPr lang="en-US" dirty="0"/>
              <a:t> Normalization during Depletion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766902-4781-BAD6-00E7-F1DA1D9064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C8C237F-79D3-8480-F1BE-313EBFB87D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5739" y="663768"/>
            <a:ext cx="7792521" cy="5880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8E7629-7A9E-FCAB-24DB-827D08FDC083}"/>
              </a:ext>
            </a:extLst>
          </p:cNvPr>
          <p:cNvSpPr txBox="1"/>
          <p:nvPr/>
        </p:nvSpPr>
        <p:spPr>
          <a:xfrm>
            <a:off x="5148848" y="3501008"/>
            <a:ext cx="3960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Adjust Q-value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en-US" altLang="ko-KR" sz="1400" dirty="0">
                <a:solidFill>
                  <a:srgbClr val="FF0000"/>
                </a:solidFill>
              </a:rPr>
              <a:t>for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en-US" altLang="ko-KR" sz="1400" dirty="0">
                <a:solidFill>
                  <a:srgbClr val="FF0000"/>
                </a:solidFill>
              </a:rPr>
              <a:t>SERPENT2.2.1 to correspond with </a:t>
            </a:r>
            <a:r>
              <a:rPr lang="en-US" altLang="ko-KR" sz="1400" dirty="0" err="1">
                <a:solidFill>
                  <a:srgbClr val="FF0000"/>
                </a:solidFill>
              </a:rPr>
              <a:t>OpenMC</a:t>
            </a:r>
            <a:r>
              <a:rPr lang="en-US" altLang="ko-KR" sz="1400" dirty="0">
                <a:solidFill>
                  <a:srgbClr val="FF0000"/>
                </a:solidFill>
              </a:rPr>
              <a:t> value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0520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263407-7039-F80F-A967-403D89508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NaCl-UCl3 Depletion (No Gas Removal)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46DF95-DFD6-3150-FA42-DB12E48B1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Always URR option was ‘off’ for all cases in this work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45718D-9ADC-553C-3FBE-139B56399C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D2F101F-7E85-DE4E-DF07-62AFB68BF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879" y="1124744"/>
            <a:ext cx="7370241" cy="5251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B498E7-4EC9-AE08-F9E5-0D1F6BEB8D7C}"/>
              </a:ext>
            </a:extLst>
          </p:cNvPr>
          <p:cNvSpPr txBox="1"/>
          <p:nvPr/>
        </p:nvSpPr>
        <p:spPr>
          <a:xfrm>
            <a:off x="886879" y="6000798"/>
            <a:ext cx="30492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highlight>
                  <a:srgbClr val="FFFF00"/>
                </a:highlight>
              </a:rPr>
              <a:t>pcc</a:t>
            </a:r>
            <a:r>
              <a:rPr lang="en-US" sz="1400" b="1" dirty="0">
                <a:highlight>
                  <a:srgbClr val="FFFF00"/>
                </a:highlight>
              </a:rPr>
              <a:t> = 1: Predictor Corrector (CE/LI)</a:t>
            </a:r>
          </a:p>
        </p:txBody>
      </p:sp>
    </p:spTree>
    <p:extLst>
      <p:ext uri="{BB962C8B-B14F-4D97-AF65-F5344CB8AC3E}">
        <p14:creationId xmlns:p14="http://schemas.microsoft.com/office/powerpoint/2010/main" val="716448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2DF8CE-8641-FC5B-930F-73C856CE5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NaCl-UCl3 Depletion (Gas Removal)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F46CA6CA-542E-C81C-930D-6B37341B82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6155" y="724217"/>
            <a:ext cx="7611689" cy="5409565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87FC54-1C57-59D6-6963-408B1FFE21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595D30-5028-E789-93D1-0548AB120203}"/>
              </a:ext>
            </a:extLst>
          </p:cNvPr>
          <p:cNvSpPr txBox="1"/>
          <p:nvPr/>
        </p:nvSpPr>
        <p:spPr>
          <a:xfrm>
            <a:off x="874512" y="5733256"/>
            <a:ext cx="7394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highlight>
                  <a:srgbClr val="FFFF00"/>
                </a:highlight>
              </a:rPr>
              <a:t>pcc</a:t>
            </a:r>
            <a:r>
              <a:rPr lang="en-US" sz="1400" b="1" dirty="0">
                <a:highlight>
                  <a:srgbClr val="FFFF00"/>
                </a:highlight>
              </a:rPr>
              <a:t> = 2: Predictor Only / Serpent2.2.1 does not provide CE/LI option when FP is removed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5A31FA-FCA4-A3FA-E5B4-E4DE3502C1AB}"/>
              </a:ext>
            </a:extLst>
          </p:cNvPr>
          <p:cNvSpPr txBox="1"/>
          <p:nvPr/>
        </p:nvSpPr>
        <p:spPr>
          <a:xfrm>
            <a:off x="874512" y="6110604"/>
            <a:ext cx="70727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3333FF"/>
                </a:solidFill>
              </a:rPr>
              <a:t>But, intriguingly, Serpent Value well match with </a:t>
            </a:r>
            <a:r>
              <a:rPr lang="en-US" sz="1400" b="1" dirty="0" err="1">
                <a:solidFill>
                  <a:srgbClr val="3333FF"/>
                </a:solidFill>
              </a:rPr>
              <a:t>OpenMC</a:t>
            </a:r>
            <a:r>
              <a:rPr lang="en-US" sz="1400" b="1" dirty="0">
                <a:solidFill>
                  <a:srgbClr val="3333FF"/>
                </a:solidFill>
              </a:rPr>
              <a:t> result with CE/LI option!</a:t>
            </a:r>
          </a:p>
        </p:txBody>
      </p:sp>
    </p:spTree>
    <p:extLst>
      <p:ext uri="{BB962C8B-B14F-4D97-AF65-F5344CB8AC3E}">
        <p14:creationId xmlns:p14="http://schemas.microsoft.com/office/powerpoint/2010/main" val="2372022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5BF4B5-FC98-E3F0-E317-4F71200F0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LiCl-AnCl3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196305-B37E-AD04-8972-C77E514E26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C4831BC4-3618-5835-4C37-2FCF150F3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Tritium breeding from Li-6 &amp; 7 should be considered</a:t>
            </a:r>
          </a:p>
          <a:p>
            <a:r>
              <a:rPr lang="en-US" dirty="0"/>
              <a:t>The ‘Minor Actinide (An)’ comprises of Np237, Am241, Am243, Cm244</a:t>
            </a:r>
          </a:p>
        </p:txBody>
      </p:sp>
      <p:pic>
        <p:nvPicPr>
          <p:cNvPr id="8" name="내용 개체 틀 4">
            <a:extLst>
              <a:ext uri="{FF2B5EF4-FFF2-40B4-BE49-F238E27FC236}">
                <a16:creationId xmlns:a16="http://schemas.microsoft.com/office/drawing/2014/main" id="{EF1EDE7F-425A-CE33-C1C5-F0CAC60A4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596" y="1402984"/>
            <a:ext cx="7272808" cy="48461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F909E22-ACD3-C776-B10D-026AE290E8A2}"/>
              </a:ext>
            </a:extLst>
          </p:cNvPr>
          <p:cNvSpPr txBox="1"/>
          <p:nvPr/>
        </p:nvSpPr>
        <p:spPr>
          <a:xfrm>
            <a:off x="575553" y="5883553"/>
            <a:ext cx="79928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Does the difference stems from (</a:t>
            </a:r>
            <a:r>
              <a:rPr lang="en-US" sz="1600" b="1" dirty="0" err="1">
                <a:solidFill>
                  <a:srgbClr val="FF0000"/>
                </a:solidFill>
              </a:rPr>
              <a:t>i</a:t>
            </a:r>
            <a:r>
              <a:rPr lang="en-US" sz="1600" b="1" dirty="0">
                <a:solidFill>
                  <a:srgbClr val="FF0000"/>
                </a:solidFill>
              </a:rPr>
              <a:t>) Lithium chain file, (or/and) (ii) Minor Actinides?</a:t>
            </a:r>
          </a:p>
        </p:txBody>
      </p:sp>
    </p:spTree>
    <p:extLst>
      <p:ext uri="{BB962C8B-B14F-4D97-AF65-F5344CB8AC3E}">
        <p14:creationId xmlns:p14="http://schemas.microsoft.com/office/powerpoint/2010/main" val="2465950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E70E4D-07C8-55FE-0620-3692CD101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NaCl-AnCl3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366CD8-2104-23DF-04C3-29D44E90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1C3CCD52-9A2B-DAF1-C98C-4242FEECD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NaCl-UCl3 agreed well between </a:t>
            </a:r>
            <a:r>
              <a:rPr lang="en-US" dirty="0" err="1"/>
              <a:t>OpenMC</a:t>
            </a:r>
            <a:r>
              <a:rPr lang="en-US" dirty="0"/>
              <a:t> &amp; Serpent, the presented difference stems </a:t>
            </a:r>
          </a:p>
          <a:p>
            <a:r>
              <a:rPr lang="en-US" dirty="0"/>
              <a:t>from ‘Minor Actinides’ in the salt</a:t>
            </a:r>
          </a:p>
        </p:txBody>
      </p:sp>
      <p:pic>
        <p:nvPicPr>
          <p:cNvPr id="8" name="내용 개체 틀 4">
            <a:extLst>
              <a:ext uri="{FF2B5EF4-FFF2-40B4-BE49-F238E27FC236}">
                <a16:creationId xmlns:a16="http://schemas.microsoft.com/office/drawing/2014/main" id="{06FCFE36-FCEA-4AAF-D5D3-46A4E2F4C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484784"/>
            <a:ext cx="7344816" cy="486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31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290827-F365-8C94-963B-6E7565AF8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LiCl-UCl3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F2948A-48DF-5E9C-5579-A243076B0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Could see that correction in the chain file for Lithium 6 &amp; 7 is valid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881BE3-FD89-4AEE-794D-48219B014B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2AF9E86-1545-5BB0-942A-0C2F1DDB6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102417"/>
            <a:ext cx="7776864" cy="51466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BC859F-7281-8A26-D526-58D8AB953934}"/>
              </a:ext>
            </a:extLst>
          </p:cNvPr>
          <p:cNvSpPr txBox="1"/>
          <p:nvPr/>
        </p:nvSpPr>
        <p:spPr>
          <a:xfrm>
            <a:off x="6480213" y="1772816"/>
            <a:ext cx="15121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3333FF"/>
                </a:solidFill>
              </a:rPr>
              <a:t>Well Matches!</a:t>
            </a:r>
          </a:p>
        </p:txBody>
      </p:sp>
    </p:spTree>
    <p:extLst>
      <p:ext uri="{BB962C8B-B14F-4D97-AF65-F5344CB8AC3E}">
        <p14:creationId xmlns:p14="http://schemas.microsoft.com/office/powerpoint/2010/main" val="2189286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1CEF27-3352-6D4E-8A1B-EFCDAC165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LiCl-AnCl3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68E395-7BC8-B6E2-E265-D3EC5EF85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Performed depletion calculation for each MA isotopes:</a:t>
            </a:r>
          </a:p>
          <a:p>
            <a:pPr lvl="1"/>
            <a:r>
              <a:rPr lang="en-US" dirty="0"/>
              <a:t>(1) Np237 : Means LiCl-Np237Cl3 was considered</a:t>
            </a:r>
          </a:p>
          <a:p>
            <a:pPr lvl="1"/>
            <a:r>
              <a:rPr lang="en-US" dirty="0"/>
              <a:t>(2) Am241</a:t>
            </a:r>
          </a:p>
          <a:p>
            <a:pPr lvl="1"/>
            <a:r>
              <a:rPr lang="en-US" dirty="0"/>
              <a:t>(3) Am243</a:t>
            </a:r>
          </a:p>
          <a:p>
            <a:pPr lvl="1"/>
            <a:r>
              <a:rPr lang="en-US" dirty="0"/>
              <a:t>(4) Np237 &amp; Cm244 / Serpent cannot calculate when Cm244 is solely used</a:t>
            </a:r>
          </a:p>
          <a:p>
            <a:pPr lvl="1"/>
            <a:endParaRPr lang="en-US" dirty="0"/>
          </a:p>
          <a:p>
            <a:r>
              <a:rPr lang="en-US" dirty="0"/>
              <a:t>Found out that ‘Am241’ is the culprit for the difference!</a:t>
            </a:r>
          </a:p>
          <a:p>
            <a:pPr lvl="1"/>
            <a:r>
              <a:rPr lang="en-US" dirty="0"/>
              <a:t>All the other cases, both </a:t>
            </a:r>
            <a:r>
              <a:rPr lang="en-US" dirty="0" err="1"/>
              <a:t>OpenMC</a:t>
            </a:r>
            <a:r>
              <a:rPr lang="en-US" dirty="0"/>
              <a:t> &amp; Serpent results well resemble each other</a:t>
            </a:r>
          </a:p>
          <a:p>
            <a:pPr lvl="1"/>
            <a:r>
              <a:rPr lang="en-US" dirty="0"/>
              <a:t>Only the case of Am241, conspicuous difference is observed</a:t>
            </a:r>
          </a:p>
          <a:p>
            <a:pPr lvl="1"/>
            <a:endParaRPr lang="en-US" dirty="0"/>
          </a:p>
          <a:p>
            <a:r>
              <a:rPr lang="en-US" dirty="0"/>
              <a:t>The next step will be to scrutinize why specifically for Am241, difference occurs</a:t>
            </a:r>
          </a:p>
          <a:p>
            <a:pPr lvl="1"/>
            <a:r>
              <a:rPr lang="en-US" dirty="0"/>
              <a:t>Also, investigate for other minor actinides if necessary</a:t>
            </a:r>
          </a:p>
          <a:p>
            <a:pPr lvl="1"/>
            <a:endParaRPr lang="en-US" dirty="0"/>
          </a:p>
          <a:p>
            <a:r>
              <a:rPr lang="en-US" dirty="0"/>
              <a:t>Confirmed that when XS-data is consistent, both </a:t>
            </a:r>
            <a:r>
              <a:rPr lang="en-US" dirty="0" err="1"/>
              <a:t>OpenMC</a:t>
            </a:r>
            <a:r>
              <a:rPr lang="en-US" dirty="0"/>
              <a:t> &amp; Serpent2 yields same depletion </a:t>
            </a:r>
          </a:p>
          <a:p>
            <a:r>
              <a:rPr lang="en-US" dirty="0"/>
              <a:t>result even if for the case where FP removal is considered</a:t>
            </a:r>
          </a:p>
          <a:p>
            <a:pPr lvl="1"/>
            <a:r>
              <a:rPr lang="en-US" dirty="0"/>
              <a:t>Correction in the Lithium 6 and 7 decay chain file (for tritium production) </a:t>
            </a:r>
            <a:r>
              <a:rPr lang="en-US"/>
              <a:t>is reliable   </a:t>
            </a:r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EF9CA7-1A87-519E-BBC3-CAB8AA5F5C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003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B7E1FE-9A39-4830-832B-4A93BF343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Thank You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E16848-92F6-45BC-BB4E-7936CF3D94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02BD66-4B5F-4628-ABD5-758509CE83AF}"/>
              </a:ext>
            </a:extLst>
          </p:cNvPr>
          <p:cNvSpPr txBox="1"/>
          <p:nvPr/>
        </p:nvSpPr>
        <p:spPr>
          <a:xfrm>
            <a:off x="3384723" y="5623708"/>
            <a:ext cx="2374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Any Questions?</a:t>
            </a:r>
            <a:endParaRPr lang="ko-KR" altLang="en-US" sz="2400" b="1" dirty="0"/>
          </a:p>
        </p:txBody>
      </p:sp>
      <p:pic>
        <p:nvPicPr>
          <p:cNvPr id="1030" name="Picture 6" descr="Bucky Badger - Wikipedia">
            <a:extLst>
              <a:ext uri="{FF2B5EF4-FFF2-40B4-BE49-F238E27FC236}">
                <a16:creationId xmlns:a16="http://schemas.microsoft.com/office/drawing/2014/main" id="{1E705904-CF09-66E4-D332-8DA5BE18F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09" y="980728"/>
            <a:ext cx="3150697" cy="4049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E222C4B-1BD1-211E-0112-EA3206E5ED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388" y="1453425"/>
            <a:ext cx="4788076" cy="3265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269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272419-48EE-3FD4-E5F3-7B463DFC1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Minor Actinide Composition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2A1674-F690-C7A0-856A-8EBDC21FC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Retrieved from Matt’s Work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32FD7B-021B-26D7-1178-7A74E6EB28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AA44395-B9A5-4CDC-805B-DC970E929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033021"/>
            <a:ext cx="5307785" cy="5434895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B71163A-3A3B-3999-D630-1F5B6CCCD4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988289"/>
              </p:ext>
            </p:extLst>
          </p:nvPr>
        </p:nvGraphicFramePr>
        <p:xfrm>
          <a:off x="5804196" y="1274487"/>
          <a:ext cx="3225799" cy="2286000"/>
        </p:xfrm>
        <a:graphic>
          <a:graphicData uri="http://schemas.openxmlformats.org/drawingml/2006/table">
            <a:tbl>
              <a:tblPr/>
              <a:tblGrid>
                <a:gridCol w="610802">
                  <a:extLst>
                    <a:ext uri="{9D8B030D-6E8A-4147-A177-3AD203B41FA5}">
                      <a16:colId xmlns:a16="http://schemas.microsoft.com/office/drawing/2014/main" val="3769226972"/>
                    </a:ext>
                  </a:extLst>
                </a:gridCol>
                <a:gridCol w="610802">
                  <a:extLst>
                    <a:ext uri="{9D8B030D-6E8A-4147-A177-3AD203B41FA5}">
                      <a16:colId xmlns:a16="http://schemas.microsoft.com/office/drawing/2014/main" val="745853434"/>
                    </a:ext>
                  </a:extLst>
                </a:gridCol>
                <a:gridCol w="610802">
                  <a:extLst>
                    <a:ext uri="{9D8B030D-6E8A-4147-A177-3AD203B41FA5}">
                      <a16:colId xmlns:a16="http://schemas.microsoft.com/office/drawing/2014/main" val="4212607215"/>
                    </a:ext>
                  </a:extLst>
                </a:gridCol>
                <a:gridCol w="734872">
                  <a:extLst>
                    <a:ext uri="{9D8B030D-6E8A-4147-A177-3AD203B41FA5}">
                      <a16:colId xmlns:a16="http://schemas.microsoft.com/office/drawing/2014/main" val="3129748193"/>
                    </a:ext>
                  </a:extLst>
                </a:gridCol>
                <a:gridCol w="658521">
                  <a:extLst>
                    <a:ext uri="{9D8B030D-6E8A-4147-A177-3AD203B41FA5}">
                      <a16:colId xmlns:a16="http://schemas.microsoft.com/office/drawing/2014/main" val="1095424648"/>
                    </a:ext>
                  </a:extLst>
                </a:gridCol>
              </a:tblGrid>
              <a:tr h="1905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Element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NORMALIZE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374884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UOX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UOX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856748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Np237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4.545E-01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4.258E-02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07038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Am241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4.545E-01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4.397E-01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31267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Am242m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0.000E+00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2.939E-03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25712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Am243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76.2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7.961E-02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3.078E-01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46386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Cm242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3.134E-06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2.337E-04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02627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Cm243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0.000E+00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1.888E-03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8079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Cm244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785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1.139E-02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1.817E-01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6172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Cm245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85.7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0.000E+00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1.983E-02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09954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Cm246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8.358E-05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3.448E-03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7216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957.183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4321.47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525923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460FC6A-A58D-4099-DC9C-FABA5C2BBF3F}"/>
              </a:ext>
            </a:extLst>
          </p:cNvPr>
          <p:cNvSpPr txBox="1"/>
          <p:nvPr/>
        </p:nvSpPr>
        <p:spPr>
          <a:xfrm>
            <a:off x="5768593" y="3675677"/>
            <a:ext cx="318916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The density of LiCl-AnCl3 was </a:t>
            </a:r>
          </a:p>
          <a:p>
            <a:r>
              <a:rPr lang="en-US" sz="1600" dirty="0"/>
              <a:t>calculated from ideal liquid </a:t>
            </a:r>
          </a:p>
          <a:p>
            <a:r>
              <a:rPr lang="en-US" sz="1600" dirty="0"/>
              <a:t>model, assuming UCl3 density to be </a:t>
            </a:r>
            <a:r>
              <a:rPr lang="en-US" sz="1600" dirty="0" err="1"/>
              <a:t>simiar</a:t>
            </a:r>
            <a:r>
              <a:rPr lang="en-US" sz="1600" dirty="0"/>
              <a:t> to that of the AnCl3</a:t>
            </a:r>
          </a:p>
        </p:txBody>
      </p:sp>
    </p:spTree>
    <p:extLst>
      <p:ext uri="{BB962C8B-B14F-4D97-AF65-F5344CB8AC3E}">
        <p14:creationId xmlns:p14="http://schemas.microsoft.com/office/powerpoint/2010/main" val="3505791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E7EDDC-712C-DD23-B53F-D093E1851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Lithium – 6 &amp; 7 Chain File Correction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12A9A-CDC6-0527-FB74-B29C7B762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Fast Spectrum Chain File (ENDF 7.1) Lithium 6 and 7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lvl="1"/>
            <a:r>
              <a:rPr lang="en-US"/>
              <a:t>Does not specify tritium production through (n,t) reaction</a:t>
            </a:r>
          </a:p>
          <a:p>
            <a:pPr lvl="1"/>
            <a:r>
              <a:rPr lang="en-US"/>
              <a:t>For realistic (improved) result, need to adjust the chain file</a:t>
            </a:r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A9DC7F-6B26-8602-9B75-B424A808C0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14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A38BDAA-B96E-D9C5-AF3C-800A92618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763772"/>
              </p:ext>
            </p:extLst>
          </p:nvPr>
        </p:nvGraphicFramePr>
        <p:xfrm>
          <a:off x="287524" y="1052736"/>
          <a:ext cx="8568952" cy="1798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68952">
                  <a:extLst>
                    <a:ext uri="{9D8B030D-6E8A-4147-A177-3AD203B41FA5}">
                      <a16:colId xmlns:a16="http://schemas.microsoft.com/office/drawing/2014/main" val="10465976"/>
                    </a:ext>
                  </a:extLst>
                </a:gridCol>
              </a:tblGrid>
              <a:tr h="119972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&lt;nuclide name="Li6" reactions="2"&gt;    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&lt;reaction type="(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n,gamma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)" Q="7250600.0" target="Li7"/&gt;    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&lt;reaction type="(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n,p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)" Q="-2727300.0" target="He6"/&gt;  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&lt;/nuclide&gt;  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&lt;nuclide name="Li7" reactions="2"&gt;    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&lt;reaction type="(n,2n)" Q="-7250500.0" target="Li6"/&gt;    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&lt;reaction type="(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n,gamma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)" Q="2032800.0" target="Li8"/&gt;  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&lt;/nuclide&gt;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72806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D2B9A00-E8C7-DB22-9622-56D44B906E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970598"/>
              </p:ext>
            </p:extLst>
          </p:nvPr>
        </p:nvGraphicFramePr>
        <p:xfrm>
          <a:off x="287524" y="3589037"/>
          <a:ext cx="8568952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68952">
                  <a:extLst>
                    <a:ext uri="{9D8B030D-6E8A-4147-A177-3AD203B41FA5}">
                      <a16:colId xmlns:a16="http://schemas.microsoft.com/office/drawing/2014/main" val="10465976"/>
                    </a:ext>
                  </a:extLst>
                </a:gridCol>
              </a:tblGrid>
              <a:tr h="89933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&lt;nuclide name="Li6" reactions="2"&gt;    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&lt;reaction type="(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n,gamma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)" Q="7250600.0" target="Li7"/&gt;    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&lt;reaction type="(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n,p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)" Q="-2727300.0" target="He6"/&gt; 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</a:t>
                      </a:r>
                      <a:r>
                        <a:rPr lang="en-US" sz="1400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&lt;reaction type="(</a:t>
                      </a:r>
                      <a:r>
                        <a:rPr lang="en-US" sz="1400" dirty="0" err="1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n,t</a:t>
                      </a:r>
                      <a:r>
                        <a:rPr lang="en-US" sz="1400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)" Q="4783800.0" target="He4"/&gt; 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&lt;/nuclide&gt;  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&lt;nuclide name="Li7" reactions=“3"&gt;    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&lt;reaction type="(n,2n)" Q="-7250500.0" target="Li6"/&gt;    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&lt;reaction type="(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n,gamma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)" Q="2032800.0" target="Li8"/&gt;  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</a:t>
                      </a:r>
                      <a:r>
                        <a:rPr lang="en-US" sz="1400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&lt;reaction type="(</a:t>
                      </a:r>
                      <a:r>
                        <a:rPr lang="en-US" sz="1400" dirty="0" err="1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n,nt</a:t>
                      </a:r>
                      <a:r>
                        <a:rPr lang="en-US" sz="1400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)" Q="-2470000.0" target="He4"/&gt;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&lt;/nuclide&gt;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728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079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RDTL_PPT_Template_(20%_cooler)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rdtl_v2">
      <a:majorFont>
        <a:latin typeface="Book Antiqua"/>
        <a:ea typeface="맑은 고딕"/>
        <a:cs typeface=""/>
      </a:majorFont>
      <a:minorFont>
        <a:latin typeface="Book Antiqua"/>
        <a:ea typeface="맑은 고딕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RDTL_PPT_Template_(20%_cooler)</Template>
  <TotalTime>27947</TotalTime>
  <Words>924</Words>
  <Application>Microsoft Office PowerPoint</Application>
  <PresentationFormat>화면 슬라이드 쇼(4:3)</PresentationFormat>
  <Paragraphs>169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Euclid</vt:lpstr>
      <vt:lpstr>맑은 고딕</vt:lpstr>
      <vt:lpstr>Aptos Narrow</vt:lpstr>
      <vt:lpstr>Arial</vt:lpstr>
      <vt:lpstr>Book Antiqua</vt:lpstr>
      <vt:lpstr>Courier New</vt:lpstr>
      <vt:lpstr>Times New Roman</vt:lpstr>
      <vt:lpstr>RDTL_PPT_Template_(20%_cooler)</vt:lpstr>
      <vt:lpstr>OpenMC v0.15.3 Depletion – Comparison with Serpent2.2.1</vt:lpstr>
      <vt:lpstr>Motivation &amp; Objectives</vt:lpstr>
      <vt:lpstr>Serpent2.2.1 Normalization during Depletion</vt:lpstr>
      <vt:lpstr>OpenMC Normalization during Depletion</vt:lpstr>
      <vt:lpstr>OpenMC Normalization during Depletion</vt:lpstr>
      <vt:lpstr>NaCl-UCl3 Depletion (No Gas Removal)</vt:lpstr>
      <vt:lpstr>NaCl-UCl3 Depletion (Gas Removal)</vt:lpstr>
      <vt:lpstr>LiCl-AnCl3</vt:lpstr>
      <vt:lpstr>NaCl-AnCl3</vt:lpstr>
      <vt:lpstr>LiCl-UCl3</vt:lpstr>
      <vt:lpstr>LiCl-AnCl3</vt:lpstr>
      <vt:lpstr>Thank You</vt:lpstr>
      <vt:lpstr>Minor Actinide Composition</vt:lpstr>
      <vt:lpstr>Lithium – 6 &amp; 7 Chain File Correction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Impacts of Xe-135m on Xenon Reactivity  in Thermal Reactors</dc:title>
  <dc:creator>Windows 사용자</dc:creator>
  <cp:lastModifiedBy>Taesuk Oh</cp:lastModifiedBy>
  <cp:revision>798</cp:revision>
  <cp:lastPrinted>2014-09-26T06:44:14Z</cp:lastPrinted>
  <dcterms:created xsi:type="dcterms:W3CDTF">2013-05-26T12:21:08Z</dcterms:created>
  <dcterms:modified xsi:type="dcterms:W3CDTF">2026-04-06T04:41:26Z</dcterms:modified>
</cp:coreProperties>
</file>